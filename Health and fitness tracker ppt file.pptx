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06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08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IN"/>
              <a:t>Daily Steps Trend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Steps</c:v>
                </c:pt>
              </c:strCache>
            </c:strRef>
          </c:tx>
          <c:cat>
            <c:strRef>
              <c:f>Sheet1!$A$2:$A$31</c:f>
              <c:strCache>
                <c:ptCount val="30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  <c:pt idx="26">
                  <c:v>27 Sep</c:v>
                </c:pt>
                <c:pt idx="27">
                  <c:v>28 Sep</c:v>
                </c:pt>
                <c:pt idx="28">
                  <c:v>29 Sep</c:v>
                </c:pt>
                <c:pt idx="29">
                  <c:v>30 Sep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7253</c:v>
                </c:pt>
                <c:pt idx="1">
                  <c:v>5767</c:v>
                </c:pt>
                <c:pt idx="2">
                  <c:v>6805</c:v>
                </c:pt>
                <c:pt idx="3">
                  <c:v>8462</c:v>
                </c:pt>
                <c:pt idx="4">
                  <c:v>7940</c:v>
                </c:pt>
                <c:pt idx="5">
                  <c:v>8100</c:v>
                </c:pt>
                <c:pt idx="6">
                  <c:v>6385</c:v>
                </c:pt>
                <c:pt idx="7">
                  <c:v>5827</c:v>
                </c:pt>
                <c:pt idx="8">
                  <c:v>7187</c:v>
                </c:pt>
                <c:pt idx="9">
                  <c:v>8786</c:v>
                </c:pt>
                <c:pt idx="10">
                  <c:v>5262</c:v>
                </c:pt>
                <c:pt idx="11">
                  <c:v>7577</c:v>
                </c:pt>
                <c:pt idx="12">
                  <c:v>9415</c:v>
                </c:pt>
                <c:pt idx="13">
                  <c:v>4066</c:v>
                </c:pt>
                <c:pt idx="14">
                  <c:v>8458</c:v>
                </c:pt>
                <c:pt idx="15">
                  <c:v>5094</c:v>
                </c:pt>
                <c:pt idx="16">
                  <c:v>7404</c:v>
                </c:pt>
                <c:pt idx="17">
                  <c:v>5871</c:v>
                </c:pt>
                <c:pt idx="18">
                  <c:v>9344</c:v>
                </c:pt>
                <c:pt idx="19">
                  <c:v>7519</c:v>
                </c:pt>
                <c:pt idx="20">
                  <c:v>5490</c:v>
                </c:pt>
                <c:pt idx="21">
                  <c:v>6352</c:v>
                </c:pt>
                <c:pt idx="22">
                  <c:v>7553</c:v>
                </c:pt>
                <c:pt idx="23">
                  <c:v>7030</c:v>
                </c:pt>
                <c:pt idx="24">
                  <c:v>5482</c:v>
                </c:pt>
                <c:pt idx="25">
                  <c:v>8976</c:v>
                </c:pt>
                <c:pt idx="26">
                  <c:v>8334</c:v>
                </c:pt>
                <c:pt idx="27">
                  <c:v>5412</c:v>
                </c:pt>
                <c:pt idx="28">
                  <c:v>5895</c:v>
                </c:pt>
                <c:pt idx="29">
                  <c:v>7046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B5D-4553-B6AA-20D9A4297B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IN"/>
              <a:t>Workout Type Distribution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Days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Walking</c:v>
                </c:pt>
                <c:pt idx="1">
                  <c:v>Jogging</c:v>
                </c:pt>
                <c:pt idx="2">
                  <c:v>Cycling</c:v>
                </c:pt>
                <c:pt idx="3">
                  <c:v>Strength</c:v>
                </c:pt>
                <c:pt idx="4">
                  <c:v>Yoga</c:v>
                </c:pt>
                <c:pt idx="5">
                  <c:v>Rest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9</c:v>
                </c:pt>
                <c:pt idx="2">
                  <c:v>5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87-4E28-8FF4-2E3C524D08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b"/>
      <c:layout>
        <c:manualLayout>
          <c:xMode val="edge"/>
          <c:yMode val="edge"/>
          <c:x val="1.6806767397318578E-2"/>
          <c:y val="0.84545175157867747"/>
          <c:w val="0.98319323260268143"/>
          <c:h val="0.15454824842132264"/>
        </c:manualLayout>
      </c:layout>
      <c:overlay val="1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IN"/>
              <a:t>Weekly Workout Minutes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Workout Minutes</c:v>
                </c:pt>
              </c:strCache>
            </c:strRef>
          </c:tx>
          <c:invertIfNegative val="1"/>
          <c:cat>
            <c:strRef>
              <c:f>Sheet1!$A$2:$A$6</c:f>
              <c:strCache>
                <c:ptCount val="5"/>
                <c:pt idx="0">
                  <c:v>Week 1</c:v>
                </c:pt>
                <c:pt idx="1">
                  <c:v>Week 2</c:v>
                </c:pt>
                <c:pt idx="2">
                  <c:v>Week 3</c:v>
                </c:pt>
                <c:pt idx="3">
                  <c:v>Week 4</c:v>
                </c:pt>
                <c:pt idx="4">
                  <c:v>Week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191</c:v>
                </c:pt>
                <c:pt idx="1">
                  <c:v>198</c:v>
                </c:pt>
                <c:pt idx="2">
                  <c:v>203</c:v>
                </c:pt>
                <c:pt idx="3">
                  <c:v>225</c:v>
                </c:pt>
                <c:pt idx="4">
                  <c:v>199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3F1-4989-8304-425E4BCC62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8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95632" y="777240"/>
            <a:ext cx="10835640" cy="53949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097280"/>
            <a:ext cx="10149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18304E"/>
                </a:solidFill>
              </a:rPr>
              <a:t>HEALTH &amp; FITNESS TRACKER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874519"/>
            <a:ext cx="10149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259691"/>
                </a:solidFill>
              </a:rPr>
              <a:t>Office Automation Lab • Minor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43000" y="2514600"/>
            <a:ext cx="46177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43000" y="2514600"/>
            <a:ext cx="50292" cy="713232"/>
          </a:xfrm>
          <a:prstGeom prst="rect">
            <a:avLst/>
          </a:prstGeom>
          <a:solidFill>
            <a:srgbClr val="25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07592" y="2606040"/>
            <a:ext cx="43616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>
                <a:solidFill>
                  <a:srgbClr val="18304E"/>
                </a:solidFill>
              </a:rPr>
              <a:t>NAME</a:t>
            </a:r>
          </a:p>
          <a:p>
            <a:pPr>
              <a:spcAft>
                <a:spcPts val="200"/>
              </a:spcAft>
              <a:defRPr sz="1000">
                <a:solidFill>
                  <a:srgbClr val="232D37"/>
                </a:solidFill>
              </a:defRPr>
            </a:pPr>
            <a:r>
              <a:rPr lang="en-IN" sz="1600" dirty="0"/>
              <a:t>Mohit Pal &amp; Alok Kumar</a:t>
            </a:r>
            <a:endParaRPr sz="1600" dirty="0"/>
          </a:p>
        </p:txBody>
      </p:sp>
      <p:sp>
        <p:nvSpPr>
          <p:cNvPr id="9" name="Rounded Rectangle 8"/>
          <p:cNvSpPr/>
          <p:nvPr/>
        </p:nvSpPr>
        <p:spPr>
          <a:xfrm>
            <a:off x="6309360" y="2514600"/>
            <a:ext cx="46177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9360" y="2514600"/>
            <a:ext cx="50292" cy="713232"/>
          </a:xfrm>
          <a:prstGeom prst="rect">
            <a:avLst/>
          </a:prstGeom>
          <a:solidFill>
            <a:srgbClr val="2D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73952" y="2606040"/>
            <a:ext cx="43616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>
                <a:solidFill>
                  <a:srgbClr val="18304E"/>
                </a:solidFill>
              </a:rPr>
              <a:t>UID</a:t>
            </a:r>
          </a:p>
          <a:p>
            <a:pPr>
              <a:spcAft>
                <a:spcPts val="200"/>
              </a:spcAft>
              <a:defRPr sz="1000">
                <a:solidFill>
                  <a:srgbClr val="232D37"/>
                </a:solidFill>
              </a:defRPr>
            </a:pPr>
            <a:r>
              <a:rPr lang="en-IN" sz="1600" dirty="0"/>
              <a:t>26BCA10171 &amp; 26BCA10201</a:t>
            </a:r>
            <a:endParaRPr sz="1600" dirty="0"/>
          </a:p>
        </p:txBody>
      </p:sp>
      <p:sp>
        <p:nvSpPr>
          <p:cNvPr id="12" name="Rounded Rectangle 11"/>
          <p:cNvSpPr/>
          <p:nvPr/>
        </p:nvSpPr>
        <p:spPr>
          <a:xfrm>
            <a:off x="1143000" y="3429000"/>
            <a:ext cx="46177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143000" y="3429000"/>
            <a:ext cx="50292" cy="713232"/>
          </a:xfrm>
          <a:prstGeom prst="rect">
            <a:avLst/>
          </a:prstGeom>
          <a:solidFill>
            <a:srgbClr val="E8B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07592" y="3520440"/>
            <a:ext cx="43616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>
                <a:solidFill>
                  <a:srgbClr val="18304E"/>
                </a:solidFill>
              </a:rPr>
              <a:t>SECTION</a:t>
            </a:r>
          </a:p>
          <a:p>
            <a:pPr>
              <a:spcAft>
                <a:spcPts val="200"/>
              </a:spcAft>
              <a:defRPr sz="1000">
                <a:solidFill>
                  <a:srgbClr val="232D37"/>
                </a:solidFill>
              </a:defRPr>
            </a:pPr>
            <a:r>
              <a:rPr lang="en-IN" sz="1600" dirty="0"/>
              <a:t>26BCA-4A</a:t>
            </a:r>
            <a:endParaRPr sz="1600" dirty="0"/>
          </a:p>
        </p:txBody>
      </p:sp>
      <p:sp>
        <p:nvSpPr>
          <p:cNvPr id="15" name="Rounded Rectangle 14"/>
          <p:cNvSpPr/>
          <p:nvPr/>
        </p:nvSpPr>
        <p:spPr>
          <a:xfrm>
            <a:off x="6309360" y="3429000"/>
            <a:ext cx="46177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09360" y="3429000"/>
            <a:ext cx="50292" cy="713232"/>
          </a:xfrm>
          <a:prstGeom prst="rect">
            <a:avLst/>
          </a:prstGeom>
          <a:solidFill>
            <a:srgbClr val="43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73952" y="3520440"/>
            <a:ext cx="43616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>
                <a:solidFill>
                  <a:srgbClr val="18304E"/>
                </a:solidFill>
              </a:rPr>
              <a:t>SUBJECT</a:t>
            </a:r>
          </a:p>
          <a:p>
            <a:pPr>
              <a:spcAft>
                <a:spcPts val="200"/>
              </a:spcAft>
              <a:defRPr sz="1000">
                <a:solidFill>
                  <a:srgbClr val="232D37"/>
                </a:solidFill>
              </a:defRPr>
            </a:pPr>
            <a:r>
              <a:rPr sz="1600" dirty="0"/>
              <a:t>Office Automation Lab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4343400"/>
            <a:ext cx="46177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143000" y="4343400"/>
            <a:ext cx="50292" cy="713232"/>
          </a:xfrm>
          <a:prstGeom prst="rect">
            <a:avLst/>
          </a:prstGeom>
          <a:solidFill>
            <a:srgbClr val="CE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307592" y="4434840"/>
            <a:ext cx="43616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>
                <a:solidFill>
                  <a:srgbClr val="18304E"/>
                </a:solidFill>
              </a:rPr>
              <a:t>PROJECT NAME</a:t>
            </a:r>
          </a:p>
          <a:p>
            <a:pPr>
              <a:spcAft>
                <a:spcPts val="200"/>
              </a:spcAft>
              <a:defRPr sz="1000">
                <a:solidFill>
                  <a:srgbClr val="232D37"/>
                </a:solidFill>
              </a:defRPr>
            </a:pPr>
            <a:r>
              <a:rPr sz="1600" dirty="0"/>
              <a:t>Health and Fitness Tracker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4343400"/>
            <a:ext cx="46177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09360" y="4343400"/>
            <a:ext cx="50292" cy="713232"/>
          </a:xfrm>
          <a:prstGeom prst="rect">
            <a:avLst/>
          </a:prstGeom>
          <a:solidFill>
            <a:srgbClr val="25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73952" y="4434840"/>
            <a:ext cx="43616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>
                <a:solidFill>
                  <a:srgbClr val="18304E"/>
                </a:solidFill>
              </a:rPr>
              <a:t>PROJECT TITLE</a:t>
            </a:r>
          </a:p>
          <a:p>
            <a:pPr>
              <a:spcAft>
                <a:spcPts val="200"/>
              </a:spcAft>
              <a:defRPr sz="1000">
                <a:solidFill>
                  <a:srgbClr val="232D37"/>
                </a:solidFill>
              </a:defRPr>
            </a:pPr>
            <a:r>
              <a:rPr sz="1600" dirty="0"/>
              <a:t>Excel-Based Health &amp; Fitness Tracking and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F6E7D"/>
                </a:solidFill>
              </a:rPr>
              <a:t>Health &amp; Fitness Tracker  •  Office Automation Lab                         1/7</a:t>
            </a: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D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8304E"/>
                </a:solidFill>
                <a:latin typeface="Aptos Display"/>
              </a:rPr>
              <a:t>Excel Workbook Overview &amp; Daily Tracker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77824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E7D"/>
                </a:solidFill>
              </a:rPr>
              <a:t>Daily data entry is the foundation; other sheets transform it into analysis and reporting.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50292" cy="1234440"/>
          </a:xfrm>
          <a:prstGeom prst="rect">
            <a:avLst/>
          </a:prstGeom>
          <a:solidFill>
            <a:srgbClr val="2D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417320"/>
            <a:ext cx="3172968" cy="897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>
                <a:solidFill>
                  <a:srgbClr val="18304E"/>
                </a:solidFill>
              </a:rPr>
              <a:t>1. Daily Tracker</a:t>
            </a:r>
          </a:p>
          <a:p>
            <a:pPr>
              <a:spcAft>
                <a:spcPts val="200"/>
              </a:spcAft>
              <a:defRPr sz="950">
                <a:solidFill>
                  <a:srgbClr val="232D37"/>
                </a:solidFill>
              </a:defRPr>
            </a:pPr>
            <a:r>
              <a:rPr sz="1200" dirty="0"/>
              <a:t>30 sample records</a:t>
            </a:r>
          </a:p>
          <a:p>
            <a:pPr>
              <a:spcAft>
                <a:spcPts val="200"/>
              </a:spcAft>
              <a:defRPr sz="950">
                <a:solidFill>
                  <a:srgbClr val="232D37"/>
                </a:solidFill>
              </a:defRPr>
            </a:pPr>
            <a:r>
              <a:rPr sz="1200" dirty="0"/>
              <a:t>Steps • Workout • Duration</a:t>
            </a:r>
          </a:p>
          <a:p>
            <a:pPr>
              <a:spcAft>
                <a:spcPts val="200"/>
              </a:spcAft>
              <a:defRPr sz="950">
                <a:solidFill>
                  <a:srgbClr val="232D37"/>
                </a:solidFill>
              </a:defRPr>
            </a:pPr>
            <a:r>
              <a:rPr sz="1200" dirty="0"/>
              <a:t>Calories • Water • Sleep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69748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2697480"/>
            <a:ext cx="50292" cy="1234440"/>
          </a:xfrm>
          <a:prstGeom prst="rect">
            <a:avLst/>
          </a:prstGeom>
          <a:solidFill>
            <a:srgbClr val="25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2788920"/>
            <a:ext cx="3172968" cy="897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>
                <a:solidFill>
                  <a:srgbClr val="18304E"/>
                </a:solidFill>
              </a:rPr>
              <a:t>2. Weekly Summary</a:t>
            </a:r>
          </a:p>
          <a:p>
            <a:pPr>
              <a:spcAft>
                <a:spcPts val="200"/>
              </a:spcAft>
              <a:defRPr sz="950">
                <a:solidFill>
                  <a:srgbClr val="232D37"/>
                </a:solidFill>
              </a:defRPr>
            </a:pPr>
            <a:r>
              <a:rPr sz="1200" dirty="0"/>
              <a:t>Weekly totals and averages</a:t>
            </a:r>
          </a:p>
          <a:p>
            <a:pPr>
              <a:spcAft>
                <a:spcPts val="200"/>
              </a:spcAft>
              <a:defRPr sz="950">
                <a:solidFill>
                  <a:srgbClr val="232D37"/>
                </a:solidFill>
              </a:defRPr>
            </a:pPr>
            <a:r>
              <a:rPr sz="1200" dirty="0"/>
              <a:t>SUM and AVERAGE</a:t>
            </a:r>
          </a:p>
          <a:p>
            <a:pPr>
              <a:spcAft>
                <a:spcPts val="200"/>
              </a:spcAft>
              <a:defRPr sz="950">
                <a:solidFill>
                  <a:srgbClr val="232D37"/>
                </a:solidFill>
              </a:defRPr>
            </a:pPr>
            <a:r>
              <a:rPr sz="1200" dirty="0"/>
              <a:t>Easy comparison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406908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4360" y="4069080"/>
            <a:ext cx="50292" cy="1234440"/>
          </a:xfrm>
          <a:prstGeom prst="rect">
            <a:avLst/>
          </a:prstGeom>
          <a:solidFill>
            <a:srgbClr val="E8B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8952" y="4160520"/>
            <a:ext cx="3172968" cy="897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>
                <a:solidFill>
                  <a:srgbClr val="18304E"/>
                </a:solidFill>
              </a:rPr>
              <a:t>3. Dashboard</a:t>
            </a:r>
          </a:p>
          <a:p>
            <a:pPr>
              <a:spcAft>
                <a:spcPts val="200"/>
              </a:spcAft>
              <a:defRPr sz="950">
                <a:solidFill>
                  <a:srgbClr val="232D37"/>
                </a:solidFill>
              </a:defRPr>
            </a:pPr>
            <a:r>
              <a:rPr sz="1200" dirty="0"/>
              <a:t>KPIs + charts</a:t>
            </a:r>
          </a:p>
          <a:p>
            <a:pPr>
              <a:spcAft>
                <a:spcPts val="200"/>
              </a:spcAft>
              <a:defRPr sz="950">
                <a:solidFill>
                  <a:srgbClr val="232D37"/>
                </a:solidFill>
              </a:defRPr>
            </a:pPr>
            <a:r>
              <a:rPr sz="1200" dirty="0"/>
              <a:t>Quick progress view</a:t>
            </a:r>
          </a:p>
          <a:p>
            <a:pPr>
              <a:spcAft>
                <a:spcPts val="200"/>
              </a:spcAft>
              <a:defRPr sz="950">
                <a:solidFill>
                  <a:srgbClr val="232D37"/>
                </a:solidFill>
              </a:defRPr>
            </a:pPr>
            <a:r>
              <a:rPr sz="1200" dirty="0"/>
              <a:t>Visual reporting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1325880"/>
            <a:ext cx="722376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51960" y="1325880"/>
            <a:ext cx="50292" cy="3977639"/>
          </a:xfrm>
          <a:prstGeom prst="rect">
            <a:avLst/>
          </a:prstGeom>
          <a:solidFill>
            <a:srgbClr val="43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07992" y="1554481"/>
            <a:ext cx="6967728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18304E"/>
                </a:solidFill>
              </a:rPr>
              <a:t>Daily Tracker — fields used</a:t>
            </a:r>
          </a:p>
          <a:p>
            <a:pPr>
              <a:spcAft>
                <a:spcPts val="200"/>
              </a:spcAft>
              <a:defRPr sz="900">
                <a:solidFill>
                  <a:srgbClr val="232D37"/>
                </a:solidFill>
              </a:defRPr>
            </a:pPr>
            <a:r>
              <a:rPr sz="1600" dirty="0"/>
              <a:t>Date / Day — identifies each record.</a:t>
            </a:r>
          </a:p>
          <a:p>
            <a:pPr>
              <a:spcAft>
                <a:spcPts val="200"/>
              </a:spcAft>
              <a:defRPr sz="900">
                <a:solidFill>
                  <a:srgbClr val="232D37"/>
                </a:solidFill>
              </a:defRPr>
            </a:pPr>
            <a:r>
              <a:rPr sz="1600" dirty="0"/>
              <a:t>Steps — daily movement count.</a:t>
            </a:r>
          </a:p>
          <a:p>
            <a:pPr>
              <a:spcAft>
                <a:spcPts val="200"/>
              </a:spcAft>
              <a:defRPr sz="900">
                <a:solidFill>
                  <a:srgbClr val="232D37"/>
                </a:solidFill>
              </a:defRPr>
            </a:pPr>
            <a:r>
              <a:rPr sz="1600" dirty="0"/>
              <a:t>Workout Type — Walking, Jogging, Cycling, Strength, Yoga or Rest.</a:t>
            </a:r>
          </a:p>
          <a:p>
            <a:pPr>
              <a:spcAft>
                <a:spcPts val="200"/>
              </a:spcAft>
              <a:defRPr sz="900">
                <a:solidFill>
                  <a:srgbClr val="232D37"/>
                </a:solidFill>
              </a:defRPr>
            </a:pPr>
            <a:r>
              <a:rPr sz="1600" dirty="0"/>
              <a:t>Workout Duration — exercise time in minutes.</a:t>
            </a:r>
          </a:p>
          <a:p>
            <a:pPr>
              <a:spcAft>
                <a:spcPts val="200"/>
              </a:spcAft>
              <a:defRPr sz="900">
                <a:solidFill>
                  <a:srgbClr val="232D37"/>
                </a:solidFill>
              </a:defRPr>
            </a:pPr>
            <a:r>
              <a:rPr sz="1600" dirty="0"/>
              <a:t>Calories Burned / Calories Intake — energy tracking.</a:t>
            </a:r>
          </a:p>
          <a:p>
            <a:pPr>
              <a:spcAft>
                <a:spcPts val="200"/>
              </a:spcAft>
              <a:defRPr sz="900">
                <a:solidFill>
                  <a:srgbClr val="232D37"/>
                </a:solidFill>
              </a:defRPr>
            </a:pPr>
            <a:r>
              <a:rPr sz="1600" dirty="0"/>
              <a:t>Water — </a:t>
            </a:r>
            <a:r>
              <a:rPr sz="1600" dirty="0" err="1"/>
              <a:t>litres</a:t>
            </a:r>
            <a:r>
              <a:rPr sz="1600" dirty="0"/>
              <a:t>; Sleep — hours; Meal Pattern — diet pattern.</a:t>
            </a:r>
          </a:p>
          <a:p>
            <a:pPr>
              <a:spcAft>
                <a:spcPts val="200"/>
              </a:spcAft>
              <a:defRPr sz="900">
                <a:solidFill>
                  <a:srgbClr val="232D37"/>
                </a:solidFill>
              </a:defRPr>
            </a:pPr>
            <a:r>
              <a:rPr sz="1600" dirty="0"/>
              <a:t>Weight — kg; Wellness Score — automatically calculated indicator</a:t>
            </a:r>
            <a:r>
              <a:rPr dirty="0"/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5486400"/>
            <a:ext cx="1088136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4360" y="5486400"/>
            <a:ext cx="50292" cy="594360"/>
          </a:xfrm>
          <a:prstGeom prst="rect">
            <a:avLst/>
          </a:prstGeom>
          <a:solidFill>
            <a:srgbClr val="CE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8952" y="5577840"/>
            <a:ext cx="10625328" cy="423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dirty="0">
                <a:solidFill>
                  <a:srgbClr val="18304E"/>
                </a:solidFill>
              </a:rPr>
              <a:t>Excel controls used</a:t>
            </a:r>
          </a:p>
          <a:p>
            <a:pPr>
              <a:spcAft>
                <a:spcPts val="200"/>
              </a:spcAft>
              <a:defRPr sz="850">
                <a:solidFill>
                  <a:srgbClr val="232D37"/>
                </a:solidFill>
              </a:defRPr>
            </a:pPr>
            <a:r>
              <a:rPr sz="1050" dirty="0"/>
              <a:t>Dropdown lists (data validation) • Conditional formatting • AutoFilter • Freeze Panes • Automatic calculations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F6E7D"/>
                </a:solidFill>
              </a:rPr>
              <a:t>Health &amp; Fitness Tracker  •  Office Automation Lab                         2/7</a:t>
            </a:r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8304E"/>
                </a:solidFill>
                <a:latin typeface="Aptos Display"/>
              </a:rPr>
              <a:t>Weekly Summary &amp; Core Excel Formulas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77824"/>
            <a:ext cx="775090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>
                <a:solidFill>
                  <a:srgbClr val="5F6E7D"/>
                </a:solidFill>
              </a:rPr>
              <a:t>Daily records are converted into totals and averages using spreadsheet functions</a:t>
            </a:r>
            <a:r>
              <a:rPr sz="1000" dirty="0">
                <a:solidFill>
                  <a:srgbClr val="5F6E7D"/>
                </a:solidFill>
              </a:rPr>
              <a:t>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8150614"/>
              </p:ext>
            </p:extLst>
          </p:nvPr>
        </p:nvGraphicFramePr>
        <p:xfrm>
          <a:off x="594360" y="1325880"/>
          <a:ext cx="653796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93420"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</a:rPr>
                        <a:t>Week</a:t>
                      </a:r>
                    </a:p>
                  </a:txBody>
                  <a:tcPr>
                    <a:solidFill>
                      <a:srgbClr val="1830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</a:rPr>
                        <a:t>Steps</a:t>
                      </a:r>
                    </a:p>
                  </a:txBody>
                  <a:tcPr>
                    <a:solidFill>
                      <a:srgbClr val="1830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</a:rPr>
                        <a:t>Workout Min</a:t>
                      </a:r>
                    </a:p>
                  </a:txBody>
                  <a:tcPr>
                    <a:solidFill>
                      <a:srgbClr val="1830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</a:rPr>
                        <a:t>Avg Water</a:t>
                      </a:r>
                    </a:p>
                  </a:txBody>
                  <a:tcPr>
                    <a:solidFill>
                      <a:srgbClr val="1830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</a:rPr>
                        <a:t>Avg Wellness</a:t>
                      </a:r>
                    </a:p>
                  </a:txBody>
                  <a:tcPr>
                    <a:solidFill>
                      <a:srgbClr val="1830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algn="ctr"/>
                      <a:r>
                        <a:rPr sz="1600" dirty="0">
                          <a:solidFill>
                            <a:srgbClr val="232D37"/>
                          </a:solidFill>
                        </a:rPr>
                        <a:t>Week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32D37"/>
                          </a:solidFill>
                        </a:rPr>
                        <a:t>44,327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32D37"/>
                          </a:solidFill>
                        </a:rPr>
                        <a:t>191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dirty="0">
                          <a:solidFill>
                            <a:srgbClr val="232D37"/>
                          </a:solidFill>
                        </a:rPr>
                        <a:t>2.25 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dirty="0">
                          <a:solidFill>
                            <a:srgbClr val="232D37"/>
                          </a:solidFill>
                        </a:rPr>
                        <a:t>82.3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algn="ctr"/>
                      <a:r>
                        <a:rPr sz="1600" dirty="0">
                          <a:solidFill>
                            <a:srgbClr val="232D37"/>
                          </a:solidFill>
                        </a:rPr>
                        <a:t>Week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dirty="0">
                          <a:solidFill>
                            <a:srgbClr val="232D37"/>
                          </a:solidFill>
                        </a:rPr>
                        <a:t>41,024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dirty="0">
                          <a:solidFill>
                            <a:srgbClr val="232D37"/>
                          </a:solidFill>
                        </a:rPr>
                        <a:t>198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32D37"/>
                          </a:solidFill>
                        </a:rPr>
                        <a:t>2.30 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32D37"/>
                          </a:solidFill>
                        </a:rPr>
                        <a:t>74.3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32D37"/>
                          </a:solidFill>
                        </a:rPr>
                        <a:t>Week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dirty="0">
                          <a:solidFill>
                            <a:srgbClr val="232D37"/>
                          </a:solidFill>
                        </a:rPr>
                        <a:t>40,308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dirty="0">
                          <a:solidFill>
                            <a:srgbClr val="232D37"/>
                          </a:solidFill>
                        </a:rPr>
                        <a:t>203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dirty="0">
                          <a:solidFill>
                            <a:srgbClr val="232D37"/>
                          </a:solidFill>
                        </a:rPr>
                        <a:t>2.38 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32D37"/>
                          </a:solidFill>
                        </a:rPr>
                        <a:t>76.0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32D37"/>
                          </a:solidFill>
                        </a:rPr>
                        <a:t>Week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32D37"/>
                          </a:solidFill>
                        </a:rPr>
                        <a:t>43,288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32D37"/>
                          </a:solidFill>
                        </a:rPr>
                        <a:t>225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dirty="0">
                          <a:solidFill>
                            <a:srgbClr val="232D37"/>
                          </a:solidFill>
                        </a:rPr>
                        <a:t>2.15 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dirty="0">
                          <a:solidFill>
                            <a:srgbClr val="232D37"/>
                          </a:solidFill>
                        </a:rPr>
                        <a:t>79.8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32D37"/>
                          </a:solidFill>
                        </a:rPr>
                        <a:t>Week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32D37"/>
                          </a:solidFill>
                        </a:rPr>
                        <a:t>41,145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32D37"/>
                          </a:solidFill>
                        </a:rPr>
                        <a:t>199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32D37"/>
                          </a:solidFill>
                        </a:rPr>
                        <a:t>2.30 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dirty="0">
                          <a:solidFill>
                            <a:srgbClr val="232D37"/>
                          </a:solidFill>
                        </a:rPr>
                        <a:t>77.8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406640" y="1325880"/>
            <a:ext cx="4069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406640" y="1325880"/>
            <a:ext cx="50292" cy="1143000"/>
          </a:xfrm>
          <a:prstGeom prst="rect">
            <a:avLst/>
          </a:prstGeom>
          <a:solidFill>
            <a:srgbClr val="2D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71231" y="1417320"/>
            <a:ext cx="3813048" cy="810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>
                <a:solidFill>
                  <a:srgbClr val="18304E"/>
                </a:solidFill>
              </a:rPr>
              <a:t>SUM</a:t>
            </a:r>
          </a:p>
          <a:p>
            <a:pPr>
              <a:spcAft>
                <a:spcPts val="200"/>
              </a:spcAft>
              <a:defRPr sz="850">
                <a:solidFill>
                  <a:srgbClr val="232D37"/>
                </a:solidFill>
              </a:defRPr>
            </a:pPr>
            <a:r>
              <a:rPr sz="1600" dirty="0"/>
              <a:t>Adds a range of numbers.</a:t>
            </a:r>
          </a:p>
          <a:p>
            <a:pPr>
              <a:spcAft>
                <a:spcPts val="200"/>
              </a:spcAft>
              <a:defRPr sz="850">
                <a:solidFill>
                  <a:srgbClr val="232D37"/>
                </a:solidFill>
              </a:defRPr>
            </a:pPr>
            <a:r>
              <a:rPr sz="1600" dirty="0"/>
              <a:t>=SUM('Daily Tracker'!C2:C31)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2651760"/>
            <a:ext cx="4069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406640" y="2651760"/>
            <a:ext cx="50292" cy="1143000"/>
          </a:xfrm>
          <a:prstGeom prst="rect">
            <a:avLst/>
          </a:prstGeom>
          <a:solidFill>
            <a:srgbClr val="25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71231" y="2743200"/>
            <a:ext cx="3813048" cy="810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>
                <a:solidFill>
                  <a:srgbClr val="18304E"/>
                </a:solidFill>
              </a:rPr>
              <a:t>AVERAGE</a:t>
            </a:r>
          </a:p>
          <a:p>
            <a:pPr>
              <a:spcAft>
                <a:spcPts val="200"/>
              </a:spcAft>
              <a:defRPr sz="850">
                <a:solidFill>
                  <a:srgbClr val="232D37"/>
                </a:solidFill>
              </a:defRPr>
            </a:pPr>
            <a:r>
              <a:rPr sz="1600" dirty="0"/>
              <a:t>Finds the mean.</a:t>
            </a:r>
          </a:p>
          <a:p>
            <a:pPr>
              <a:spcAft>
                <a:spcPts val="200"/>
              </a:spcAft>
              <a:defRPr sz="850">
                <a:solidFill>
                  <a:srgbClr val="232D37"/>
                </a:solidFill>
              </a:defRPr>
            </a:pPr>
            <a:r>
              <a:rPr sz="1600" dirty="0"/>
              <a:t>=AVERAGE('Daily Tracker'!H2:H31)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3977639"/>
            <a:ext cx="4069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406640" y="3977639"/>
            <a:ext cx="50292" cy="1143000"/>
          </a:xfrm>
          <a:prstGeom prst="rect">
            <a:avLst/>
          </a:prstGeom>
          <a:solidFill>
            <a:srgbClr val="E8B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71231" y="4069079"/>
            <a:ext cx="3813048" cy="810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dirty="0">
                <a:solidFill>
                  <a:srgbClr val="18304E"/>
                </a:solidFill>
              </a:rPr>
              <a:t>COUNTIF</a:t>
            </a:r>
          </a:p>
          <a:p>
            <a:pPr>
              <a:spcAft>
                <a:spcPts val="200"/>
              </a:spcAft>
              <a:defRPr sz="850">
                <a:solidFill>
                  <a:srgbClr val="232D37"/>
                </a:solidFill>
              </a:defRPr>
            </a:pPr>
            <a:r>
              <a:rPr sz="1600" dirty="0"/>
              <a:t>Counts matching cells.</a:t>
            </a:r>
          </a:p>
          <a:p>
            <a:pPr>
              <a:spcAft>
                <a:spcPts val="200"/>
              </a:spcAft>
              <a:defRPr sz="850">
                <a:solidFill>
                  <a:srgbClr val="232D37"/>
                </a:solidFill>
              </a:defRPr>
            </a:pPr>
            <a:r>
              <a:rPr sz="1600" dirty="0"/>
              <a:t>Used for workout-day counts.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5303520"/>
            <a:ext cx="40690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406640" y="5303520"/>
            <a:ext cx="50292" cy="640080"/>
          </a:xfrm>
          <a:prstGeom prst="rect">
            <a:avLst/>
          </a:prstGeom>
          <a:solidFill>
            <a:srgbClr val="43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71231" y="5394959"/>
            <a:ext cx="381304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dirty="0">
                <a:solidFill>
                  <a:srgbClr val="18304E"/>
                </a:solidFill>
              </a:rPr>
              <a:t>SUMIF</a:t>
            </a:r>
          </a:p>
          <a:p>
            <a:pPr>
              <a:spcAft>
                <a:spcPts val="200"/>
              </a:spcAft>
              <a:defRPr sz="800">
                <a:solidFill>
                  <a:srgbClr val="232D37"/>
                </a:solidFill>
              </a:defRPr>
            </a:pPr>
            <a:r>
              <a:rPr sz="1600" dirty="0"/>
              <a:t>Adds values when a condition is met.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F6E7D"/>
                </a:solidFill>
              </a:rPr>
              <a:t>Health &amp; Fitness Tracker  •  Office Automation Lab                         3/7</a:t>
            </a:r>
          </a:p>
        </p:txBody>
      </p: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3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8304E"/>
                </a:solidFill>
                <a:latin typeface="Aptos Display"/>
              </a:rPr>
              <a:t>Dashboard &amp; Daily Steps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77824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E7D"/>
                </a:solidFill>
              </a:rPr>
              <a:t>The Dashboard turns calculations into quick KPIs and visual progress information.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80160"/>
            <a:ext cx="20574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280160"/>
            <a:ext cx="50292" cy="777240"/>
          </a:xfrm>
          <a:prstGeom prst="rect">
            <a:avLst/>
          </a:prstGeom>
          <a:solidFill>
            <a:srgbClr val="2D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371600"/>
            <a:ext cx="18013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8304E"/>
                </a:solidFill>
              </a:rPr>
              <a:t>TOTAL STEPS</a:t>
            </a:r>
          </a:p>
          <a:p>
            <a:pPr>
              <a:spcAft>
                <a:spcPts val="200"/>
              </a:spcAft>
              <a:defRPr sz="1600">
                <a:solidFill>
                  <a:srgbClr val="232D37"/>
                </a:solidFill>
              </a:defRPr>
            </a:pPr>
            <a:r>
              <a:t>210,092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1280160"/>
            <a:ext cx="20574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834640" y="1280160"/>
            <a:ext cx="50292" cy="777240"/>
          </a:xfrm>
          <a:prstGeom prst="rect">
            <a:avLst/>
          </a:prstGeom>
          <a:solidFill>
            <a:srgbClr val="25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99232" y="1371600"/>
            <a:ext cx="18013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8304E"/>
                </a:solidFill>
              </a:rPr>
              <a:t>WORKOUT MIN</a:t>
            </a:r>
          </a:p>
          <a:p>
            <a:pPr>
              <a:spcAft>
                <a:spcPts val="200"/>
              </a:spcAft>
              <a:defRPr sz="1600">
                <a:solidFill>
                  <a:srgbClr val="232D37"/>
                </a:solidFill>
              </a:defRPr>
            </a:pPr>
            <a:r>
              <a:t>1016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1280160"/>
            <a:ext cx="20574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74920" y="1280160"/>
            <a:ext cx="50292" cy="777240"/>
          </a:xfrm>
          <a:prstGeom prst="rect">
            <a:avLst/>
          </a:prstGeom>
          <a:solidFill>
            <a:srgbClr val="E8B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39512" y="1371600"/>
            <a:ext cx="18013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8304E"/>
                </a:solidFill>
              </a:rPr>
              <a:t>AVG CALORIE INTAKE</a:t>
            </a:r>
          </a:p>
          <a:p>
            <a:pPr>
              <a:spcAft>
                <a:spcPts val="200"/>
              </a:spcAft>
              <a:defRPr sz="1600">
                <a:solidFill>
                  <a:srgbClr val="232D37"/>
                </a:solidFill>
              </a:defRPr>
            </a:pPr>
            <a:r>
              <a:t>2131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1280160"/>
            <a:ext cx="20574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0" y="1280160"/>
            <a:ext cx="50292" cy="777240"/>
          </a:xfrm>
          <a:prstGeom prst="rect">
            <a:avLst/>
          </a:prstGeom>
          <a:solidFill>
            <a:srgbClr val="43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79792" y="1371600"/>
            <a:ext cx="18013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8304E"/>
                </a:solidFill>
              </a:rPr>
              <a:t>AVG WATER</a:t>
            </a:r>
          </a:p>
          <a:p>
            <a:pPr>
              <a:spcAft>
                <a:spcPts val="200"/>
              </a:spcAft>
              <a:defRPr sz="1600">
                <a:solidFill>
                  <a:srgbClr val="232D37"/>
                </a:solidFill>
              </a:defRPr>
            </a:pPr>
            <a:r>
              <a:t>2.28 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55480" y="1280160"/>
            <a:ext cx="20574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555480" y="1280160"/>
            <a:ext cx="50292" cy="777240"/>
          </a:xfrm>
          <a:prstGeom prst="rect">
            <a:avLst/>
          </a:prstGeom>
          <a:solidFill>
            <a:srgbClr val="CE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20072" y="1371600"/>
            <a:ext cx="18013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8304E"/>
                </a:solidFill>
              </a:rPr>
              <a:t>AVG WELLNESS</a:t>
            </a:r>
          </a:p>
          <a:p>
            <a:pPr>
              <a:spcAft>
                <a:spcPts val="200"/>
              </a:spcAft>
              <a:defRPr sz="1600">
                <a:solidFill>
                  <a:srgbClr val="232D37"/>
                </a:solidFill>
              </a:defRPr>
            </a:pPr>
            <a:r>
              <a:t>78.1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594360" y="2331720"/>
          <a:ext cx="754380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8412480" y="2331720"/>
            <a:ext cx="3063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412480" y="2331720"/>
            <a:ext cx="50292" cy="1417320"/>
          </a:xfrm>
          <a:prstGeom prst="rect">
            <a:avLst/>
          </a:prstGeom>
          <a:solidFill>
            <a:srgbClr val="25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77072" y="2423160"/>
            <a:ext cx="2807208" cy="1164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>
                <a:solidFill>
                  <a:srgbClr val="18304E"/>
                </a:solidFill>
              </a:rPr>
              <a:t>How it is made</a:t>
            </a:r>
          </a:p>
          <a:p>
            <a:pPr>
              <a:spcAft>
                <a:spcPts val="200"/>
              </a:spcAft>
              <a:defRPr sz="850">
                <a:solidFill>
                  <a:srgbClr val="232D37"/>
                </a:solidFill>
              </a:defRPr>
            </a:pPr>
            <a:r>
              <a:rPr sz="1400" dirty="0"/>
              <a:t>Date is the category axis and Steps is the data series.</a:t>
            </a:r>
          </a:p>
          <a:p>
            <a:pPr>
              <a:spcAft>
                <a:spcPts val="200"/>
              </a:spcAft>
              <a:defRPr sz="850">
                <a:solidFill>
                  <a:srgbClr val="232D37"/>
                </a:solidFill>
              </a:defRPr>
            </a:pPr>
            <a:r>
              <a:rPr sz="1400" dirty="0"/>
              <a:t>The line makes daily highs and lows visible.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0" y="3931920"/>
            <a:ext cx="30632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412480" y="3931920"/>
            <a:ext cx="50292" cy="2011680"/>
          </a:xfrm>
          <a:prstGeom prst="rect">
            <a:avLst/>
          </a:prstGeom>
          <a:solidFill>
            <a:srgbClr val="E8B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77072" y="4023359"/>
            <a:ext cx="2807208" cy="1620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>
                <a:solidFill>
                  <a:srgbClr val="18304E"/>
                </a:solidFill>
              </a:rPr>
              <a:t>Dashboard logic</a:t>
            </a:r>
          </a:p>
          <a:p>
            <a:pPr>
              <a:spcAft>
                <a:spcPts val="200"/>
              </a:spcAft>
              <a:defRPr sz="850">
                <a:solidFill>
                  <a:srgbClr val="232D37"/>
                </a:solidFill>
              </a:defRPr>
            </a:pPr>
            <a:r>
              <a:rPr sz="1400" dirty="0"/>
              <a:t>KPI values come from worksheet calculations.</a:t>
            </a:r>
          </a:p>
          <a:p>
            <a:pPr>
              <a:spcAft>
                <a:spcPts val="200"/>
              </a:spcAft>
              <a:defRPr sz="850">
                <a:solidFill>
                  <a:srgbClr val="232D37"/>
                </a:solidFill>
              </a:defRPr>
            </a:pPr>
            <a:r>
              <a:rPr sz="1400" dirty="0"/>
              <a:t>Charts visualize the same project data.</a:t>
            </a:r>
          </a:p>
          <a:p>
            <a:pPr>
              <a:spcAft>
                <a:spcPts val="200"/>
              </a:spcAft>
              <a:defRPr sz="850">
                <a:solidFill>
                  <a:srgbClr val="232D37"/>
                </a:solidFill>
              </a:defRPr>
            </a:pPr>
            <a:r>
              <a:rPr sz="1400" dirty="0"/>
              <a:t>The Dashboard gives a quick overview</a:t>
            </a:r>
            <a:r>
              <a:rPr dirty="0"/>
              <a:t>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F6E7D"/>
                </a:solidFill>
              </a:rPr>
              <a:t>Health &amp; Fitness Tracker  •  Office Automation Lab                         4/7</a:t>
            </a:r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D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8304E"/>
                </a:solidFill>
                <a:latin typeface="Aptos Display"/>
              </a:rPr>
              <a:t>Workout Analysis &amp; Charts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77824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F6E7D"/>
                </a:solidFill>
              </a:rPr>
              <a:t>COUNTIF and SUMIF compare workout frequency and total duration.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6189213"/>
              </p:ext>
            </p:extLst>
          </p:nvPr>
        </p:nvGraphicFramePr>
        <p:xfrm>
          <a:off x="594360" y="1325880"/>
          <a:ext cx="29718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3954"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</a:rPr>
                        <a:t>Workout</a:t>
                      </a:r>
                    </a:p>
                  </a:txBody>
                  <a:tcPr>
                    <a:solidFill>
                      <a:srgbClr val="1830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Days</a:t>
                      </a:r>
                    </a:p>
                  </a:txBody>
                  <a:tcPr>
                    <a:solidFill>
                      <a:srgbClr val="1830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Minutes</a:t>
                      </a:r>
                    </a:p>
                  </a:txBody>
                  <a:tcPr>
                    <a:solidFill>
                      <a:srgbClr val="1830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 algn="ctr"/>
                      <a:r>
                        <a:rPr sz="1600" dirty="0">
                          <a:solidFill>
                            <a:srgbClr val="232D37"/>
                          </a:solidFill>
                        </a:rPr>
                        <a:t>Walking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dirty="0">
                          <a:solidFill>
                            <a:srgbClr val="232D3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32D37"/>
                          </a:solidFill>
                        </a:rPr>
                        <a:t>109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32D37"/>
                          </a:solidFill>
                        </a:rPr>
                        <a:t>Jogging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dirty="0">
                          <a:solidFill>
                            <a:srgbClr val="232D37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32D37"/>
                          </a:solidFill>
                        </a:rPr>
                        <a:t>374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32D37"/>
                          </a:solidFill>
                        </a:rPr>
                        <a:t>Cycling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32D37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dirty="0">
                          <a:solidFill>
                            <a:srgbClr val="232D37"/>
                          </a:solidFill>
                        </a:rPr>
                        <a:t>201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32D37"/>
                          </a:solidFill>
                        </a:rPr>
                        <a:t>Strength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32D3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dirty="0">
                          <a:solidFill>
                            <a:srgbClr val="232D37"/>
                          </a:solidFill>
                        </a:rPr>
                        <a:t>161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3954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32D37"/>
                          </a:solidFill>
                        </a:rPr>
                        <a:t>Yoga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32D3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dirty="0">
                          <a:solidFill>
                            <a:srgbClr val="232D37"/>
                          </a:solidFill>
                        </a:rPr>
                        <a:t>171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3956"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32D37"/>
                          </a:solidFill>
                        </a:rPr>
                        <a:t>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32D37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dirty="0">
                          <a:solidFill>
                            <a:srgbClr val="232D37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6929337"/>
              </p:ext>
            </p:extLst>
          </p:nvPr>
        </p:nvGraphicFramePr>
        <p:xfrm>
          <a:off x="3726180" y="1325879"/>
          <a:ext cx="3383280" cy="45262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269480" y="1325880"/>
          <a:ext cx="420624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94360" y="5760720"/>
            <a:ext cx="108813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5760720"/>
            <a:ext cx="50292" cy="438912"/>
          </a:xfrm>
          <a:prstGeom prst="rect">
            <a:avLst/>
          </a:prstGeom>
          <a:solidFill>
            <a:srgbClr val="25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5852159"/>
            <a:ext cx="10625328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18304E"/>
                </a:solidFill>
              </a:rPr>
              <a:t>Key functions</a:t>
            </a:r>
          </a:p>
          <a:p>
            <a:pPr>
              <a:spcAft>
                <a:spcPts val="200"/>
              </a:spcAft>
              <a:defRPr sz="800">
                <a:solidFill>
                  <a:srgbClr val="232D37"/>
                </a:solidFill>
              </a:defRPr>
            </a:pPr>
            <a:r>
              <a:t>COUNTIF = count matching workout types • SUMIF = total minutes for a selected workout • AVERAGE = average duration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F6E7D"/>
                </a:solidFill>
              </a:rPr>
              <a:t>Health &amp; Fitness Tracker  •  Office Automation Lab                         5/7</a:t>
            </a:r>
          </a:p>
        </p:txBody>
      </p: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8B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8304E"/>
                </a:solidFill>
                <a:latin typeface="Aptos Display"/>
              </a:rPr>
              <a:t>Wellness Score, IF / MIN / ROUND &amp; Excel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77824"/>
            <a:ext cx="648869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dirty="0">
                <a:solidFill>
                  <a:srgbClr val="5F6E7D"/>
                </a:solidFill>
              </a:rPr>
              <a:t>A project-defined score combines five daily factors; other Excel tools improve usability</a:t>
            </a:r>
            <a:r>
              <a:rPr sz="1000" dirty="0">
                <a:solidFill>
                  <a:srgbClr val="5F6E7D"/>
                </a:solidFill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7040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50292" cy="1143000"/>
          </a:xfrm>
          <a:prstGeom prst="rect">
            <a:avLst/>
          </a:prstGeom>
          <a:solidFill>
            <a:srgbClr val="2D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417320"/>
            <a:ext cx="678484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18304E"/>
                </a:solidFill>
              </a:rPr>
              <a:t>Wellness Score Formula</a:t>
            </a:r>
          </a:p>
          <a:p>
            <a:pPr>
              <a:spcAft>
                <a:spcPts val="200"/>
              </a:spcAft>
              <a:defRPr sz="730">
                <a:solidFill>
                  <a:srgbClr val="232D37"/>
                </a:solidFill>
              </a:defRPr>
            </a:pPr>
            <a:r>
              <a:rPr sz="1400" dirty="0"/>
              <a:t>=ROUND(MIN(C2/8000,1)*30+MIN(E2/45,1)*25+MIN(H2/2.5,1)*15+MIN(I2/8,1)*15+IF(J2="Balanced",15,IF(J2="Mostly Balanced",10,5)),0)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651760"/>
            <a:ext cx="33375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2651760"/>
            <a:ext cx="50292" cy="2240280"/>
          </a:xfrm>
          <a:prstGeom prst="rect">
            <a:avLst/>
          </a:prstGeom>
          <a:solidFill>
            <a:srgbClr val="25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2743200"/>
            <a:ext cx="3081528" cy="1518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18304E"/>
                </a:solidFill>
              </a:rPr>
              <a:t>Score Components</a:t>
            </a:r>
          </a:p>
          <a:p>
            <a:pPr>
              <a:spcAft>
                <a:spcPts val="200"/>
              </a:spcAft>
              <a:defRPr sz="900">
                <a:solidFill>
                  <a:srgbClr val="232D37"/>
                </a:solidFill>
              </a:defRPr>
            </a:pPr>
            <a:r>
              <a:rPr sz="1400" dirty="0"/>
              <a:t>Steps → max 30</a:t>
            </a:r>
          </a:p>
          <a:p>
            <a:pPr>
              <a:spcAft>
                <a:spcPts val="200"/>
              </a:spcAft>
              <a:defRPr sz="900">
                <a:solidFill>
                  <a:srgbClr val="232D37"/>
                </a:solidFill>
              </a:defRPr>
            </a:pPr>
            <a:r>
              <a:rPr sz="1400" dirty="0"/>
              <a:t>Workout duration → max 25</a:t>
            </a:r>
          </a:p>
          <a:p>
            <a:pPr>
              <a:spcAft>
                <a:spcPts val="200"/>
              </a:spcAft>
              <a:defRPr sz="900">
                <a:solidFill>
                  <a:srgbClr val="232D37"/>
                </a:solidFill>
              </a:defRPr>
            </a:pPr>
            <a:r>
              <a:rPr sz="1400" dirty="0"/>
              <a:t>Water → max 15</a:t>
            </a:r>
          </a:p>
          <a:p>
            <a:pPr>
              <a:spcAft>
                <a:spcPts val="200"/>
              </a:spcAft>
              <a:defRPr sz="900">
                <a:solidFill>
                  <a:srgbClr val="232D37"/>
                </a:solidFill>
              </a:defRPr>
            </a:pPr>
            <a:r>
              <a:rPr sz="1400" dirty="0"/>
              <a:t>Sleep → max 15</a:t>
            </a:r>
          </a:p>
          <a:p>
            <a:pPr>
              <a:spcAft>
                <a:spcPts val="200"/>
              </a:spcAft>
              <a:defRPr sz="900">
                <a:solidFill>
                  <a:srgbClr val="232D37"/>
                </a:solidFill>
              </a:defRPr>
            </a:pPr>
            <a:r>
              <a:rPr sz="1400" dirty="0"/>
              <a:t>Meal pattern → max 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265176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60520" y="2651760"/>
            <a:ext cx="50292" cy="2240280"/>
          </a:xfrm>
          <a:prstGeom prst="rect">
            <a:avLst/>
          </a:prstGeom>
          <a:solidFill>
            <a:srgbClr val="E8B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25112" y="2743200"/>
            <a:ext cx="3218687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18304E"/>
                </a:solidFill>
              </a:rPr>
              <a:t>Functions Inside It</a:t>
            </a:r>
          </a:p>
          <a:p>
            <a:pPr>
              <a:spcAft>
                <a:spcPts val="200"/>
              </a:spcAft>
              <a:defRPr sz="900">
                <a:solidFill>
                  <a:srgbClr val="232D37"/>
                </a:solidFill>
              </a:defRPr>
            </a:pPr>
            <a:r>
              <a:rPr sz="1400" dirty="0"/>
              <a:t>MIN → caps each component</a:t>
            </a:r>
          </a:p>
          <a:p>
            <a:pPr>
              <a:spcAft>
                <a:spcPts val="200"/>
              </a:spcAft>
              <a:defRPr sz="900">
                <a:solidFill>
                  <a:srgbClr val="232D37"/>
                </a:solidFill>
              </a:defRPr>
            </a:pPr>
            <a:r>
              <a:rPr sz="1400" dirty="0"/>
              <a:t>IF → assigns meal points</a:t>
            </a:r>
          </a:p>
          <a:p>
            <a:pPr>
              <a:spcAft>
                <a:spcPts val="200"/>
              </a:spcAft>
              <a:defRPr sz="900">
                <a:solidFill>
                  <a:srgbClr val="232D37"/>
                </a:solidFill>
              </a:defRPr>
            </a:pPr>
            <a:r>
              <a:rPr sz="1400" dirty="0"/>
              <a:t>ROUND → whole-number score</a:t>
            </a:r>
          </a:p>
          <a:p>
            <a:pPr>
              <a:spcAft>
                <a:spcPts val="200"/>
              </a:spcAft>
              <a:defRPr sz="900">
                <a:solidFill>
                  <a:srgbClr val="232D37"/>
                </a:solidFill>
              </a:defRPr>
            </a:pPr>
            <a:r>
              <a:rPr sz="1400" dirty="0"/>
              <a:t>All components are added together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1325880"/>
            <a:ext cx="35661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909560" y="1325880"/>
            <a:ext cx="50292" cy="3566160"/>
          </a:xfrm>
          <a:prstGeom prst="rect">
            <a:avLst/>
          </a:prstGeom>
          <a:solidFill>
            <a:srgbClr val="43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74152" y="1417320"/>
            <a:ext cx="3310128" cy="17286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18304E"/>
                </a:solidFill>
              </a:rPr>
              <a:t>Other Excel Features</a:t>
            </a:r>
          </a:p>
          <a:p>
            <a:pPr>
              <a:spcAft>
                <a:spcPts val="200"/>
              </a:spcAft>
              <a:defRPr sz="900">
                <a:solidFill>
                  <a:srgbClr val="232D37"/>
                </a:solidFill>
              </a:defRPr>
            </a:pPr>
            <a:r>
              <a:rPr sz="1400" dirty="0"/>
              <a:t>Data Validation → dropdown choices</a:t>
            </a:r>
          </a:p>
          <a:p>
            <a:pPr>
              <a:spcAft>
                <a:spcPts val="200"/>
              </a:spcAft>
              <a:defRPr sz="900">
                <a:solidFill>
                  <a:srgbClr val="232D37"/>
                </a:solidFill>
              </a:defRPr>
            </a:pPr>
            <a:r>
              <a:rPr sz="1400" dirty="0"/>
              <a:t>Conditional Formatting → highlights values</a:t>
            </a:r>
          </a:p>
          <a:p>
            <a:pPr>
              <a:spcAft>
                <a:spcPts val="200"/>
              </a:spcAft>
              <a:defRPr sz="900">
                <a:solidFill>
                  <a:srgbClr val="232D37"/>
                </a:solidFill>
              </a:defRPr>
            </a:pPr>
            <a:r>
              <a:rPr sz="1400" dirty="0"/>
              <a:t>AutoFilter → filters records</a:t>
            </a:r>
          </a:p>
          <a:p>
            <a:pPr>
              <a:spcAft>
                <a:spcPts val="200"/>
              </a:spcAft>
              <a:defRPr sz="900">
                <a:solidFill>
                  <a:srgbClr val="232D37"/>
                </a:solidFill>
              </a:defRPr>
            </a:pPr>
            <a:r>
              <a:rPr sz="1400" dirty="0"/>
              <a:t>Freeze Panes → keeps headings visible</a:t>
            </a:r>
          </a:p>
          <a:p>
            <a:pPr>
              <a:spcAft>
                <a:spcPts val="200"/>
              </a:spcAft>
              <a:defRPr sz="900">
                <a:solidFill>
                  <a:srgbClr val="232D37"/>
                </a:solidFill>
              </a:defRPr>
            </a:pPr>
            <a:r>
              <a:rPr sz="1400" dirty="0"/>
              <a:t>Automatic Calculation → formulas update</a:t>
            </a:r>
          </a:p>
          <a:p>
            <a:pPr>
              <a:spcAft>
                <a:spcPts val="200"/>
              </a:spcAft>
              <a:defRPr sz="900">
                <a:solidFill>
                  <a:srgbClr val="232D37"/>
                </a:solidFill>
              </a:defRPr>
            </a:pPr>
            <a:r>
              <a:rPr sz="1400" dirty="0"/>
              <a:t>Charts → visual reporting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5257800"/>
            <a:ext cx="70408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4360" y="5257800"/>
            <a:ext cx="50292" cy="822960"/>
          </a:xfrm>
          <a:prstGeom prst="rect">
            <a:avLst/>
          </a:prstGeom>
          <a:solidFill>
            <a:srgbClr val="CE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8952" y="5349240"/>
            <a:ext cx="6784848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>
                <a:solidFill>
                  <a:srgbClr val="18304E"/>
                </a:solidFill>
              </a:rPr>
              <a:t>Important note</a:t>
            </a:r>
          </a:p>
          <a:p>
            <a:pPr>
              <a:spcAft>
                <a:spcPts val="200"/>
              </a:spcAft>
              <a:defRPr sz="900">
                <a:solidFill>
                  <a:srgbClr val="232D37"/>
                </a:solidFill>
              </a:defRPr>
            </a:pPr>
            <a:r>
              <a:rPr sz="1400" dirty="0"/>
              <a:t>The Wellness Score is a simple academic tracking indicator, not a medical or clinical score.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F6E7D"/>
                </a:solidFill>
              </a:rPr>
              <a:t>Health &amp; Fitness Tracker  •  Office Automation Lab                         6/7</a:t>
            </a:r>
          </a:p>
        </p:txBody>
      </p:sp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8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8304E"/>
                </a:solidFill>
                <a:latin typeface="Aptos Display"/>
              </a:rPr>
              <a:t>How the Excel Project Was Created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77824"/>
            <a:ext cx="456573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>
                <a:solidFill>
                  <a:srgbClr val="5F6E7D"/>
                </a:solidFill>
              </a:rPr>
              <a:t>Complete flow from raw data to automated analysis and presentation.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1234440"/>
            <a:ext cx="502920" cy="502920"/>
          </a:xfrm>
          <a:prstGeom prst="ellipse">
            <a:avLst/>
          </a:prstGeom>
          <a:solidFill>
            <a:srgbClr val="25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2501" y="1828800"/>
            <a:ext cx="84375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dirty="0">
                <a:solidFill>
                  <a:srgbClr val="18304E"/>
                </a:solidFill>
              </a:rPr>
              <a:t>Enter data</a:t>
            </a:r>
          </a:p>
        </p:txBody>
      </p:sp>
      <p:sp>
        <p:nvSpPr>
          <p:cNvPr id="7" name="Oval 6"/>
          <p:cNvSpPr/>
          <p:nvPr/>
        </p:nvSpPr>
        <p:spPr>
          <a:xfrm>
            <a:off x="2404872" y="1234440"/>
            <a:ext cx="502920" cy="502920"/>
          </a:xfrm>
          <a:prstGeom prst="ellipse">
            <a:avLst/>
          </a:prstGeom>
          <a:solidFill>
            <a:srgbClr val="2D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77840" y="1828800"/>
            <a:ext cx="115698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dirty="0">
                <a:solidFill>
                  <a:srgbClr val="18304E"/>
                </a:solidFill>
              </a:rPr>
              <a:t>Apply formulas</a:t>
            </a:r>
          </a:p>
        </p:txBody>
      </p:sp>
      <p:sp>
        <p:nvSpPr>
          <p:cNvPr id="9" name="Oval 8"/>
          <p:cNvSpPr/>
          <p:nvPr/>
        </p:nvSpPr>
        <p:spPr>
          <a:xfrm>
            <a:off x="4306824" y="1234440"/>
            <a:ext cx="502920" cy="502920"/>
          </a:xfrm>
          <a:prstGeom prst="ellipse">
            <a:avLst/>
          </a:prstGeom>
          <a:solidFill>
            <a:srgbClr val="43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1527" y="1828800"/>
            <a:ext cx="89351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dirty="0">
                <a:solidFill>
                  <a:srgbClr val="18304E"/>
                </a:solidFill>
              </a:rPr>
              <a:t>Summarize</a:t>
            </a:r>
          </a:p>
        </p:txBody>
      </p:sp>
      <p:sp>
        <p:nvSpPr>
          <p:cNvPr id="11" name="Oval 10"/>
          <p:cNvSpPr/>
          <p:nvPr/>
        </p:nvSpPr>
        <p:spPr>
          <a:xfrm>
            <a:off x="6208776" y="1234440"/>
            <a:ext cx="502920" cy="502920"/>
          </a:xfrm>
          <a:prstGeom prst="ellipse">
            <a:avLst/>
          </a:prstGeom>
          <a:solidFill>
            <a:srgbClr val="E8B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19726" y="1828800"/>
            <a:ext cx="68101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dirty="0">
                <a:solidFill>
                  <a:srgbClr val="18304E"/>
                </a:solidFill>
              </a:rPr>
              <a:t>Analyze</a:t>
            </a:r>
          </a:p>
        </p:txBody>
      </p:sp>
      <p:sp>
        <p:nvSpPr>
          <p:cNvPr id="13" name="Oval 12"/>
          <p:cNvSpPr/>
          <p:nvPr/>
        </p:nvSpPr>
        <p:spPr>
          <a:xfrm>
            <a:off x="8110728" y="1234440"/>
            <a:ext cx="502920" cy="502920"/>
          </a:xfrm>
          <a:prstGeom prst="ellipse">
            <a:avLst/>
          </a:prstGeom>
          <a:solidFill>
            <a:srgbClr val="CE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49964" y="1828800"/>
            <a:ext cx="102444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dirty="0">
                <a:solidFill>
                  <a:srgbClr val="18304E"/>
                </a:solidFill>
              </a:rPr>
              <a:t>Create charts</a:t>
            </a:r>
          </a:p>
        </p:txBody>
      </p:sp>
      <p:sp>
        <p:nvSpPr>
          <p:cNvPr id="15" name="Oval 14"/>
          <p:cNvSpPr/>
          <p:nvPr/>
        </p:nvSpPr>
        <p:spPr>
          <a:xfrm>
            <a:off x="10012680" y="1234440"/>
            <a:ext cx="502920" cy="502920"/>
          </a:xfrm>
          <a:prstGeom prst="ellipse">
            <a:avLst/>
          </a:prstGeom>
          <a:solidFill>
            <a:srgbClr val="25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24083" y="1828800"/>
            <a:ext cx="88011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dirty="0">
                <a:solidFill>
                  <a:srgbClr val="18304E"/>
                </a:solidFill>
              </a:rPr>
              <a:t>Dashboard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788920"/>
            <a:ext cx="52578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2788920"/>
            <a:ext cx="50292" cy="2331720"/>
          </a:xfrm>
          <a:prstGeom prst="rect">
            <a:avLst/>
          </a:prstGeom>
          <a:solidFill>
            <a:srgbClr val="25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1" y="2880360"/>
            <a:ext cx="5001768" cy="1672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18304E"/>
                </a:solidFill>
              </a:rPr>
              <a:t>What was achieved</a:t>
            </a:r>
          </a:p>
          <a:p>
            <a:pPr>
              <a:spcAft>
                <a:spcPts val="200"/>
              </a:spcAft>
              <a:defRPr sz="900">
                <a:solidFill>
                  <a:srgbClr val="232D37"/>
                </a:solidFill>
              </a:defRPr>
            </a:pPr>
            <a:r>
              <a:rPr sz="1600" dirty="0"/>
              <a:t>• Organized 30 days of sample health and fitness data.</a:t>
            </a:r>
          </a:p>
          <a:p>
            <a:pPr>
              <a:spcAft>
                <a:spcPts val="200"/>
              </a:spcAft>
              <a:defRPr sz="900">
                <a:solidFill>
                  <a:srgbClr val="232D37"/>
                </a:solidFill>
              </a:defRPr>
            </a:pPr>
            <a:r>
              <a:rPr sz="1600" dirty="0"/>
              <a:t>• Automated totals, averages, workout counts and totals.</a:t>
            </a:r>
          </a:p>
          <a:p>
            <a:pPr>
              <a:spcAft>
                <a:spcPts val="200"/>
              </a:spcAft>
              <a:defRPr sz="900">
                <a:solidFill>
                  <a:srgbClr val="232D37"/>
                </a:solidFill>
              </a:defRPr>
            </a:pPr>
            <a:r>
              <a:rPr sz="1600" dirty="0"/>
              <a:t>• Created a project-defined Wellness Score.</a:t>
            </a:r>
          </a:p>
          <a:p>
            <a:pPr>
              <a:spcAft>
                <a:spcPts val="200"/>
              </a:spcAft>
              <a:defRPr sz="900">
                <a:solidFill>
                  <a:srgbClr val="232D37"/>
                </a:solidFill>
              </a:defRPr>
            </a:pPr>
            <a:r>
              <a:rPr sz="1600" dirty="0"/>
              <a:t>• Built a Dashboard with KPIs and visual charts.</a:t>
            </a:r>
          </a:p>
          <a:p>
            <a:pPr>
              <a:spcAft>
                <a:spcPts val="200"/>
              </a:spcAft>
              <a:defRPr sz="900">
                <a:solidFill>
                  <a:srgbClr val="232D37"/>
                </a:solidFill>
              </a:defRPr>
            </a:pPr>
            <a:r>
              <a:rPr sz="1600" dirty="0"/>
              <a:t>• Used Excel formatting and data-entry controls.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788920"/>
            <a:ext cx="52578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63640" y="2788920"/>
            <a:ext cx="50292" cy="2331720"/>
          </a:xfrm>
          <a:prstGeom prst="rect">
            <a:avLst/>
          </a:prstGeom>
          <a:solidFill>
            <a:srgbClr val="2D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28231" y="2880360"/>
            <a:ext cx="5001768" cy="1672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18304E"/>
                </a:solidFill>
              </a:rPr>
              <a:t>Final Excel Workbook</a:t>
            </a:r>
          </a:p>
          <a:p>
            <a:pPr>
              <a:spcAft>
                <a:spcPts val="200"/>
              </a:spcAft>
              <a:defRPr sz="900">
                <a:solidFill>
                  <a:srgbClr val="232D37"/>
                </a:solidFill>
              </a:defRPr>
            </a:pPr>
            <a:r>
              <a:rPr sz="1600" dirty="0"/>
              <a:t>Daily Tracker → records data</a:t>
            </a:r>
          </a:p>
          <a:p>
            <a:pPr>
              <a:spcAft>
                <a:spcPts val="200"/>
              </a:spcAft>
              <a:defRPr sz="900">
                <a:solidFill>
                  <a:srgbClr val="232D37"/>
                </a:solidFill>
              </a:defRPr>
            </a:pPr>
            <a:r>
              <a:rPr sz="1600" dirty="0"/>
              <a:t>Weekly Summary → calculates progress</a:t>
            </a:r>
          </a:p>
          <a:p>
            <a:pPr>
              <a:spcAft>
                <a:spcPts val="200"/>
              </a:spcAft>
              <a:defRPr sz="900">
                <a:solidFill>
                  <a:srgbClr val="232D37"/>
                </a:solidFill>
              </a:defRPr>
            </a:pPr>
            <a:r>
              <a:rPr sz="1600" dirty="0"/>
              <a:t>Workout Analysis → compares exercise</a:t>
            </a:r>
          </a:p>
          <a:p>
            <a:pPr>
              <a:spcAft>
                <a:spcPts val="200"/>
              </a:spcAft>
              <a:defRPr sz="900">
                <a:solidFill>
                  <a:srgbClr val="232D37"/>
                </a:solidFill>
              </a:defRPr>
            </a:pPr>
            <a:r>
              <a:rPr sz="1600" dirty="0"/>
              <a:t>Dashboard → communicates results</a:t>
            </a:r>
          </a:p>
          <a:p>
            <a:pPr>
              <a:spcAft>
                <a:spcPts val="200"/>
              </a:spcAft>
              <a:defRPr sz="900">
                <a:solidFill>
                  <a:srgbClr val="232D37"/>
                </a:solidFill>
              </a:defRPr>
            </a:pPr>
            <a:r>
              <a:rPr sz="1600" dirty="0"/>
              <a:t>Supporting sheets → document the workbook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394960"/>
            <a:ext cx="108813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4" name="Rectangle 23"/>
          <p:cNvSpPr/>
          <p:nvPr/>
        </p:nvSpPr>
        <p:spPr>
          <a:xfrm>
            <a:off x="640080" y="5394960"/>
            <a:ext cx="50292" cy="685800"/>
          </a:xfrm>
          <a:prstGeom prst="rect">
            <a:avLst/>
          </a:prstGeom>
          <a:solidFill>
            <a:srgbClr val="E8B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1" y="5486400"/>
            <a:ext cx="106253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18304E"/>
                </a:solidFill>
              </a:rPr>
              <a:t>Conclusion</a:t>
            </a:r>
          </a:p>
          <a:p>
            <a:pPr>
              <a:spcAft>
                <a:spcPts val="200"/>
              </a:spcAft>
              <a:defRPr sz="900">
                <a:solidFill>
                  <a:srgbClr val="232D37"/>
                </a:solidFill>
              </a:defRPr>
            </a:pPr>
            <a:r>
              <a:rPr sz="1400" dirty="0"/>
              <a:t>The project demonstrates practical Office Automation skills: data entry, formulas, functions, analysis, visualization and professional reporting.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44723" y="6291072"/>
            <a:ext cx="197130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800" b="1" dirty="0">
                <a:solidFill>
                  <a:srgbClr val="259691"/>
                </a:solidFill>
              </a:rPr>
              <a:t>THANK YOU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F6E7D"/>
                </a:solidFill>
              </a:rPr>
              <a:t>Health &amp; Fitness Tracker  •  Office Automation Lab                         7/7</a:t>
            </a:r>
          </a:p>
        </p:txBody>
      </p:sp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831</Words>
  <Application>Microsoft Office PowerPoint</Application>
  <PresentationFormat>Widescreen</PresentationFormat>
  <Paragraphs>188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Anuj pal</cp:lastModifiedBy>
  <cp:revision>2</cp:revision>
  <dcterms:created xsi:type="dcterms:W3CDTF">2013-01-27T09:14:16Z</dcterms:created>
  <dcterms:modified xsi:type="dcterms:W3CDTF">2026-10-27T17:05:48Z</dcterms:modified>
  <cp:category/>
</cp:coreProperties>
</file>